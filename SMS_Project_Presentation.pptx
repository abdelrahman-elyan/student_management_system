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52FE9-76F4-0D6E-147A-DA71DC06A274}" v="98" dt="2026-05-17T14:05:52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حمد احمد طارق عباس احمد" userId="S::2305178@anu.edu.eg::a56bd3d1-2ef7-42e4-a298-35245365f6f6" providerId="AD" clId="Web-{9C952FE9-76F4-0D6E-147A-DA71DC06A274}"/>
    <pc:docChg chg="addSld delSld modSld addSection delSection modSection">
      <pc:chgData name="محمد احمد طارق عباس احمد" userId="S::2305178@anu.edu.eg::a56bd3d1-2ef7-42e4-a298-35245365f6f6" providerId="AD" clId="Web-{9C952FE9-76F4-0D6E-147A-DA71DC06A274}" dt="2026-05-17T14:05:52.602" v="87" actId="14100"/>
      <pc:docMkLst>
        <pc:docMk/>
      </pc:docMkLst>
      <pc:sldChg chg="modSp">
        <pc:chgData name="محمد احمد طارق عباس احمد" userId="S::2305178@anu.edu.eg::a56bd3d1-2ef7-42e4-a298-35245365f6f6" providerId="AD" clId="Web-{9C952FE9-76F4-0D6E-147A-DA71DC06A274}" dt="2026-05-17T13:52:30.901" v="7" actId="20577"/>
        <pc:sldMkLst>
          <pc:docMk/>
          <pc:sldMk cId="0" sldId="259"/>
        </pc:sldMkLst>
        <pc:spChg chg="mod">
          <ac:chgData name="محمد احمد طارق عباس احمد" userId="S::2305178@anu.edu.eg::a56bd3d1-2ef7-42e4-a298-35245365f6f6" providerId="AD" clId="Web-{9C952FE9-76F4-0D6E-147A-DA71DC06A274}" dt="2026-05-17T13:52:30.901" v="7" actId="20577"/>
          <ac:spMkLst>
            <pc:docMk/>
            <pc:sldMk cId="0" sldId="259"/>
            <ac:spMk id="11" creationId="{00000000-0000-0000-0000-000000000000}"/>
          </ac:spMkLst>
        </pc:spChg>
      </pc:sldChg>
      <pc:sldChg chg="modSp">
        <pc:chgData name="محمد احمد طارق عباس احمد" userId="S::2305178@anu.edu.eg::a56bd3d1-2ef7-42e4-a298-35245365f6f6" providerId="AD" clId="Web-{9C952FE9-76F4-0D6E-147A-DA71DC06A274}" dt="2026-05-17T13:52:56.964" v="13" actId="14100"/>
        <pc:sldMkLst>
          <pc:docMk/>
          <pc:sldMk cId="0" sldId="260"/>
        </pc:sldMkLst>
        <pc:spChg chg="mod">
          <ac:chgData name="محمد احمد طارق عباس احمد" userId="S::2305178@anu.edu.eg::a56bd3d1-2ef7-42e4-a298-35245365f6f6" providerId="AD" clId="Web-{9C952FE9-76F4-0D6E-147A-DA71DC06A274}" dt="2026-05-17T13:52:56.964" v="1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3:52:55.136" v="10" actId="1076"/>
          <ac:spMkLst>
            <pc:docMk/>
            <pc:sldMk cId="0" sldId="260"/>
            <ac:spMk id="6" creationId="{00000000-0000-0000-0000-000000000000}"/>
          </ac:spMkLst>
        </pc:spChg>
      </pc:sldChg>
      <pc:sldChg chg="delSp modSp">
        <pc:chgData name="محمد احمد طارق عباس احمد" userId="S::2305178@anu.edu.eg::a56bd3d1-2ef7-42e4-a298-35245365f6f6" providerId="AD" clId="Web-{9C952FE9-76F4-0D6E-147A-DA71DC06A274}" dt="2026-05-17T14:05:52.602" v="87" actId="14100"/>
        <pc:sldMkLst>
          <pc:docMk/>
          <pc:sldMk cId="0" sldId="263"/>
        </pc:sldMkLst>
        <pc:spChg chg="mod">
          <ac:chgData name="محمد احمد طارق عباس احمد" userId="S::2305178@anu.edu.eg::a56bd3d1-2ef7-42e4-a298-35245365f6f6" providerId="AD" clId="Web-{9C952FE9-76F4-0D6E-147A-DA71DC06A274}" dt="2026-05-17T14:05:09.709" v="76" actId="14100"/>
          <ac:spMkLst>
            <pc:docMk/>
            <pc:sldMk cId="0" sldId="263"/>
            <ac:spMk id="5" creationId="{00000000-0000-0000-0000-000000000000}"/>
          </ac:spMkLst>
        </pc:spChg>
        <pc:spChg chg="del">
          <ac:chgData name="محمد احمد طارق عباس احمد" userId="S::2305178@anu.edu.eg::a56bd3d1-2ef7-42e4-a298-35245365f6f6" providerId="AD" clId="Web-{9C952FE9-76F4-0D6E-147A-DA71DC06A274}" dt="2026-05-17T14:04:23.973" v="65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محمد احمد طارق عباس احمد" userId="S::2305178@anu.edu.eg::a56bd3d1-2ef7-42e4-a298-35245365f6f6" providerId="AD" clId="Web-{9C952FE9-76F4-0D6E-147A-DA71DC06A274}" dt="2026-05-17T14:04:21.770" v="64"/>
          <ac:spMkLst>
            <pc:docMk/>
            <pc:sldMk cId="0" sldId="263"/>
            <ac:spMk id="9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4:30.723" v="6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13.772" v="77" actId="14100"/>
          <ac:spMkLst>
            <pc:docMk/>
            <pc:sldMk cId="0" sldId="263"/>
            <ac:spMk id="11" creationId="{00000000-0000-0000-0000-000000000000}"/>
          </ac:spMkLst>
        </pc:spChg>
        <pc:spChg chg="del">
          <ac:chgData name="محمد احمد طارق عباس احمد" userId="S::2305178@anu.edu.eg::a56bd3d1-2ef7-42e4-a298-35245365f6f6" providerId="AD" clId="Web-{9C952FE9-76F4-0D6E-147A-DA71DC06A274}" dt="2026-05-17T14:04:40.380" v="6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محمد احمد طارق عباس احمد" userId="S::2305178@anu.edu.eg::a56bd3d1-2ef7-42e4-a298-35245365f6f6" providerId="AD" clId="Web-{9C952FE9-76F4-0D6E-147A-DA71DC06A274}" dt="2026-05-17T14:04:39.239" v="6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4:49.755" v="70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16.428" v="78" actId="14100"/>
          <ac:spMkLst>
            <pc:docMk/>
            <pc:sldMk cId="0" sldId="263"/>
            <ac:spMk id="17" creationId="{00000000-0000-0000-0000-000000000000}"/>
          </ac:spMkLst>
        </pc:spChg>
        <pc:spChg chg="del">
          <ac:chgData name="محمد احمد طارق عباس احمد" userId="S::2305178@anu.edu.eg::a56bd3d1-2ef7-42e4-a298-35245365f6f6" providerId="AD" clId="Web-{9C952FE9-76F4-0D6E-147A-DA71DC06A274}" dt="2026-05-17T14:04:55.349" v="72"/>
          <ac:spMkLst>
            <pc:docMk/>
            <pc:sldMk cId="0" sldId="263"/>
            <ac:spMk id="20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00.224" v="74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05.631" v="75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35.195" v="82" actId="14100"/>
          <ac:spMkLst>
            <pc:docMk/>
            <pc:sldMk cId="0" sldId="263"/>
            <ac:spMk id="23" creationId="{00000000-0000-0000-0000-000000000000}"/>
          </ac:spMkLst>
        </pc:spChg>
        <pc:spChg chg="del">
          <ac:chgData name="محمد احمد طارق عباس احمد" userId="S::2305178@anu.edu.eg::a56bd3d1-2ef7-42e4-a298-35245365f6f6" providerId="AD" clId="Web-{9C952FE9-76F4-0D6E-147A-DA71DC06A274}" dt="2026-05-17T14:05:21.975" v="79"/>
          <ac:spMkLst>
            <pc:docMk/>
            <pc:sldMk cId="0" sldId="263"/>
            <ac:spMk id="26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24.585" v="80" actId="20577"/>
          <ac:spMkLst>
            <pc:docMk/>
            <pc:sldMk cId="0" sldId="263"/>
            <ac:spMk id="27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31.585" v="81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52.602" v="87" actId="14100"/>
          <ac:spMkLst>
            <pc:docMk/>
            <pc:sldMk cId="0" sldId="263"/>
            <ac:spMk id="29" creationId="{00000000-0000-0000-0000-000000000000}"/>
          </ac:spMkLst>
        </pc:spChg>
        <pc:spChg chg="del">
          <ac:chgData name="محمد احمد طارق عباس احمد" userId="S::2305178@anu.edu.eg::a56bd3d1-2ef7-42e4-a298-35245365f6f6" providerId="AD" clId="Web-{9C952FE9-76F4-0D6E-147A-DA71DC06A274}" dt="2026-05-17T14:05:37.085" v="83"/>
          <ac:spMkLst>
            <pc:docMk/>
            <pc:sldMk cId="0" sldId="263"/>
            <ac:spMk id="32" creationId="{00000000-0000-0000-0000-000000000000}"/>
          </ac:spMkLst>
        </pc:spChg>
        <pc:spChg chg="del mod">
          <ac:chgData name="محمد احمد طارق عباس احمد" userId="S::2305178@anu.edu.eg::a56bd3d1-2ef7-42e4-a298-35245365f6f6" providerId="AD" clId="Web-{9C952FE9-76F4-0D6E-147A-DA71DC06A274}" dt="2026-05-17T14:05:41.882" v="85"/>
          <ac:spMkLst>
            <pc:docMk/>
            <pc:sldMk cId="0" sldId="263"/>
            <ac:spMk id="33" creationId="{00000000-0000-0000-0000-000000000000}"/>
          </ac:spMkLst>
        </pc:spChg>
        <pc:spChg chg="mod">
          <ac:chgData name="محمد احمد طارق عباس احمد" userId="S::2305178@anu.edu.eg::a56bd3d1-2ef7-42e4-a298-35245365f6f6" providerId="AD" clId="Web-{9C952FE9-76F4-0D6E-147A-DA71DC06A274}" dt="2026-05-17T14:05:48.648" v="86" actId="1076"/>
          <ac:spMkLst>
            <pc:docMk/>
            <pc:sldMk cId="0" sldId="263"/>
            <ac:spMk id="34" creationId="{00000000-0000-0000-0000-000000000000}"/>
          </ac:spMkLst>
        </pc:spChg>
      </pc:sldChg>
      <pc:sldChg chg="addSp modSp">
        <pc:chgData name="محمد احمد طارق عباس احمد" userId="S::2305178@anu.edu.eg::a56bd3d1-2ef7-42e4-a298-35245365f6f6" providerId="AD" clId="Web-{9C952FE9-76F4-0D6E-147A-DA71DC06A274}" dt="2026-05-17T13:55:43.471" v="23" actId="1076"/>
        <pc:sldMkLst>
          <pc:docMk/>
          <pc:sldMk cId="0" sldId="264"/>
        </pc:sldMkLst>
        <pc:spChg chg="mod">
          <ac:chgData name="محمد احمد طارق عباس احمد" userId="S::2305178@anu.edu.eg::a56bd3d1-2ef7-42e4-a298-35245365f6f6" providerId="AD" clId="Web-{9C952FE9-76F4-0D6E-147A-DA71DC06A274}" dt="2026-05-17T13:55:21.064" v="16" actId="20577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محمد احمد طارق عباس احمد" userId="S::2305178@anu.edu.eg::a56bd3d1-2ef7-42e4-a298-35245365f6f6" providerId="AD" clId="Web-{9C952FE9-76F4-0D6E-147A-DA71DC06A274}" dt="2026-05-17T13:55:43.471" v="23" actId="1076"/>
          <ac:picMkLst>
            <pc:docMk/>
            <pc:sldMk cId="0" sldId="264"/>
            <ac:picMk id="15" creationId="{ED61764B-26EB-4B96-F169-633F1E381280}"/>
          </ac:picMkLst>
        </pc:picChg>
      </pc:sldChg>
      <pc:sldChg chg="addSp modSp">
        <pc:chgData name="محمد احمد طارق عباس احمد" userId="S::2305178@anu.edu.eg::a56bd3d1-2ef7-42e4-a298-35245365f6f6" providerId="AD" clId="Web-{9C952FE9-76F4-0D6E-147A-DA71DC06A274}" dt="2026-05-17T13:56:29.910" v="29" actId="14100"/>
        <pc:sldMkLst>
          <pc:docMk/>
          <pc:sldMk cId="0" sldId="265"/>
        </pc:sldMkLst>
        <pc:picChg chg="add mod">
          <ac:chgData name="محمد احمد طارق عباس احمد" userId="S::2305178@anu.edu.eg::a56bd3d1-2ef7-42e4-a298-35245365f6f6" providerId="AD" clId="Web-{9C952FE9-76F4-0D6E-147A-DA71DC06A274}" dt="2026-05-17T13:56:07.847" v="26" actId="14100"/>
          <ac:picMkLst>
            <pc:docMk/>
            <pc:sldMk cId="0" sldId="265"/>
            <ac:picMk id="14" creationId="{D0A49C17-495E-7185-F972-980CE78C636F}"/>
          </ac:picMkLst>
        </pc:picChg>
        <pc:picChg chg="add mod">
          <ac:chgData name="محمد احمد طارق عباس احمد" userId="S::2305178@anu.edu.eg::a56bd3d1-2ef7-42e4-a298-35245365f6f6" providerId="AD" clId="Web-{9C952FE9-76F4-0D6E-147A-DA71DC06A274}" dt="2026-05-17T13:56:29.910" v="29" actId="14100"/>
          <ac:picMkLst>
            <pc:docMk/>
            <pc:sldMk cId="0" sldId="265"/>
            <ac:picMk id="15" creationId="{67C49541-CAC9-D117-1807-5B6C57FB6B73}"/>
          </ac:picMkLst>
        </pc:picChg>
      </pc:sldChg>
      <pc:sldChg chg="addSp modSp">
        <pc:chgData name="محمد احمد طارق عباس احمد" userId="S::2305178@anu.edu.eg::a56bd3d1-2ef7-42e4-a298-35245365f6f6" providerId="AD" clId="Web-{9C952FE9-76F4-0D6E-147A-DA71DC06A274}" dt="2026-05-17T13:58:08.860" v="46" actId="14100"/>
        <pc:sldMkLst>
          <pc:docMk/>
          <pc:sldMk cId="0" sldId="266"/>
        </pc:sldMkLst>
        <pc:picChg chg="add mod">
          <ac:chgData name="محمد احمد طارق عباس احمد" userId="S::2305178@anu.edu.eg::a56bd3d1-2ef7-42e4-a298-35245365f6f6" providerId="AD" clId="Web-{9C952FE9-76F4-0D6E-147A-DA71DC06A274}" dt="2026-05-17T13:57:01.990" v="33" actId="14100"/>
          <ac:picMkLst>
            <pc:docMk/>
            <pc:sldMk cId="0" sldId="266"/>
            <ac:picMk id="27" creationId="{DF5A412D-7352-0DD9-355D-B5B0AE81F694}"/>
          </ac:picMkLst>
        </pc:picChg>
        <pc:picChg chg="add mod">
          <ac:chgData name="محمد احمد طارق عباس احمد" userId="S::2305178@anu.edu.eg::a56bd3d1-2ef7-42e4-a298-35245365f6f6" providerId="AD" clId="Web-{9C952FE9-76F4-0D6E-147A-DA71DC06A274}" dt="2026-05-17T13:58:08.860" v="46" actId="14100"/>
          <ac:picMkLst>
            <pc:docMk/>
            <pc:sldMk cId="0" sldId="266"/>
            <ac:picMk id="28" creationId="{67FC6102-1683-E699-32A6-BE8186DFEDE4}"/>
          </ac:picMkLst>
        </pc:picChg>
        <pc:picChg chg="add mod">
          <ac:chgData name="محمد احمد طارق عباس احمد" userId="S::2305178@anu.edu.eg::a56bd3d1-2ef7-42e4-a298-35245365f6f6" providerId="AD" clId="Web-{9C952FE9-76F4-0D6E-147A-DA71DC06A274}" dt="2026-05-17T13:58:00.156" v="44" actId="14100"/>
          <ac:picMkLst>
            <pc:docMk/>
            <pc:sldMk cId="0" sldId="266"/>
            <ac:picMk id="29" creationId="{5CDDE721-1A6A-FBF2-E77C-2D40692117FF}"/>
          </ac:picMkLst>
        </pc:picChg>
      </pc:sldChg>
      <pc:sldChg chg="addSp modSp">
        <pc:chgData name="محمد احمد طارق عباس احمد" userId="S::2305178@anu.edu.eg::a56bd3d1-2ef7-42e4-a298-35245365f6f6" providerId="AD" clId="Web-{9C952FE9-76F4-0D6E-147A-DA71DC06A274}" dt="2026-05-17T14:04:00.847" v="62" actId="14100"/>
        <pc:sldMkLst>
          <pc:docMk/>
          <pc:sldMk cId="0" sldId="270"/>
        </pc:sldMkLst>
        <pc:picChg chg="add mod">
          <ac:chgData name="محمد احمد طارق عباس احمد" userId="S::2305178@anu.edu.eg::a56bd3d1-2ef7-42e4-a298-35245365f6f6" providerId="AD" clId="Web-{9C952FE9-76F4-0D6E-147A-DA71DC06A274}" dt="2026-05-17T14:01:13.090" v="50" actId="14100"/>
          <ac:picMkLst>
            <pc:docMk/>
            <pc:sldMk cId="0" sldId="270"/>
            <ac:picMk id="12" creationId="{A894C018-2E41-5092-3C6E-1A5ACBC2F0CB}"/>
          </ac:picMkLst>
        </pc:picChg>
        <pc:picChg chg="add mod">
          <ac:chgData name="محمد احمد طارق عباس احمد" userId="S::2305178@anu.edu.eg::a56bd3d1-2ef7-42e4-a298-35245365f6f6" providerId="AD" clId="Web-{9C952FE9-76F4-0D6E-147A-DA71DC06A274}" dt="2026-05-17T14:01:57.763" v="54" actId="14100"/>
          <ac:picMkLst>
            <pc:docMk/>
            <pc:sldMk cId="0" sldId="270"/>
            <ac:picMk id="13" creationId="{366B6644-BA3B-129C-45D6-77809BF67265}"/>
          </ac:picMkLst>
        </pc:picChg>
        <pc:picChg chg="add mod">
          <ac:chgData name="محمد احمد طارق عباس احمد" userId="S::2305178@anu.edu.eg::a56bd3d1-2ef7-42e4-a298-35245365f6f6" providerId="AD" clId="Web-{9C952FE9-76F4-0D6E-147A-DA71DC06A274}" dt="2026-05-17T14:02:59.063" v="58" actId="14100"/>
          <ac:picMkLst>
            <pc:docMk/>
            <pc:sldMk cId="0" sldId="270"/>
            <ac:picMk id="14" creationId="{ACF1DC2C-083B-5101-E0EE-765B331141AA}"/>
          </ac:picMkLst>
        </pc:picChg>
        <pc:picChg chg="add mod">
          <ac:chgData name="محمد احمد طارق عباس احمد" userId="S::2305178@anu.edu.eg::a56bd3d1-2ef7-42e4-a298-35245365f6f6" providerId="AD" clId="Web-{9C952FE9-76F4-0D6E-147A-DA71DC06A274}" dt="2026-05-17T14:04:00.847" v="62" actId="14100"/>
          <ac:picMkLst>
            <pc:docMk/>
            <pc:sldMk cId="0" sldId="270"/>
            <ac:picMk id="15" creationId="{A34D0EA9-404D-355F-4804-92D2D5FC5D6A}"/>
          </ac:picMkLst>
        </pc:picChg>
      </pc:sldChg>
      <pc:sldChg chg="add del">
        <pc:chgData name="محمد احمد طارق عباس احمد" userId="S::2305178@anu.edu.eg::a56bd3d1-2ef7-42e4-a298-35245365f6f6" providerId="AD" clId="Web-{9C952FE9-76F4-0D6E-147A-DA71DC06A274}" dt="2026-05-17T13:51:00.850" v="3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57CDF-051E-4EE9-9627-F84BA8F7A22D}" type="datetimeFigureOut"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6B09F-B430-4EB7-8218-EFB17E1617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5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National University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and Information Science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0" y="960120"/>
            <a:ext cx="1463040" cy="1463040"/>
          </a:xfrm>
          <a:prstGeom prst="rect">
            <a:avLst/>
          </a:prstGeom>
          <a:solidFill>
            <a:srgbClr val="2563EB">
              <a:alpha val="3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960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🎓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(SMS)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  •  Software Engineering Course  •  May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Yasser (2305127)  •  Ahmed Alsayed (2305121)  •  Abdul Rahman Rabie (2305098)  •  Mohamed Ahmed (2305178)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0" cy="658368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064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Phase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807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System Scope, Functional &amp; Non-Functional Requirements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19656"/>
            <a:ext cx="548640" cy="658368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96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UML Diagrams (Use Case, Sequence, Activity, Class, State Machine)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8412480" cy="658368"/>
          </a:xfrm>
          <a:prstGeom prst="rect">
            <a:avLst/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87752"/>
            <a:ext cx="548640" cy="658368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877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6426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1693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Tools, Grading Formula, Key Implementation Details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84124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55848"/>
            <a:ext cx="548640" cy="658368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558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System Testing, Test Cases Results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23944"/>
            <a:ext cx="8412480" cy="658368"/>
          </a:xfrm>
          <a:prstGeom prst="rect">
            <a:avLst/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23944"/>
            <a:ext cx="548640" cy="658368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239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788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Phase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45312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Design, Referential Integrity, Extensibility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Requirements Phase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4173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universities still depend on paper-based or disconnected digital systems to manage student records, course registrations, and academic grading. This creates data inconsistency, delayed grade reporting, and a poor experience for students, teachers, and administrative staff.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National University (ANU) required a centralized, secure, web-based platform that brings all academic management tasks into a single unified system.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 — Four User Roles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2057400" cy="173736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788920"/>
            <a:ext cx="2057400" cy="457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control over all system entities and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50592" y="2788920"/>
            <a:ext cx="2057400" cy="173736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788920"/>
            <a:ext cx="2057400" cy="457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Staff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3310128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permissions to the Admin role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864" y="2788920"/>
            <a:ext cx="2057400" cy="173736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2788920"/>
            <a:ext cx="2057400" cy="457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Teacher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3310128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assigned courses and enters student grades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2788920"/>
            <a:ext cx="2057400" cy="173736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2788920"/>
            <a:ext cx="2057400" cy="457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4576" y="3310128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for enrollment, grade viewing, and GPA tracking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— Admin / Staff &amp; Teacher Portal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Admin / Staff Portal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77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students: add, edit, view, and delete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teachers: add, edit, view, and delete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courses: create courses and assign to teachers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departments: add and edit department information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enrollments: enroll or drop students from any course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accounts: create, edit, and delete accounts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with bar chart (by dept) &amp; donut chart (by status)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student record + assign student ID on user creation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student profile and directly enroll or drop from courses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41605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68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Teacher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77640" cy="3337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courses assigned to the logged-in teacher</a:t>
            </a:r>
            <a:endParaRPr lang="en-US" sz="950"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list of students enrolled in each course</a:t>
            </a:r>
            <a:endParaRPr lang="en-US" sz="950">
              <a:ea typeface="Calibri" panose="020F0502020204030204"/>
              <a:cs typeface="Calibri" panose="020F05020202040302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grades per student:</a:t>
            </a:r>
            <a:endParaRPr lang="en-US" sz="9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Midterm Exam — 30%</a:t>
            </a:r>
            <a:endParaRPr lang="en-US" sz="9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Assignments — 20%</a:t>
            </a:r>
            <a:endParaRPr lang="en-US" sz="9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Final Exam — 50%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numeric grade and letter grade automatically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may only grade students in their own assigned courses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— Student Portal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Personal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52704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GPA, total credits earned, and current enrollment status at a glance.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960120"/>
            <a:ext cx="2788920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96012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Course Grades 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52704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enrolled courses along with grades and enrollment status.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960120"/>
            <a:ext cx="2788920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96012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Browse Available Courses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52704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courses by semester; student's own department is listed first for convenience.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88920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Self-Enrollment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3872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available courses with one click; duplicate enrollments are automatically prevented.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2112" y="2971800"/>
            <a:ext cx="2788920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97180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Drop Courses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53872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course that has not yet received a grade.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9904" y="2971800"/>
            <a:ext cx="2788920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97180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GPA Tracking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53872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GPA calculation based on completed courses and earned credits.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914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836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and dashboard stats load within 2 seconds under normal load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queries use indexed columns to avoid full-table scans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8595360" cy="128016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6400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366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queries use prepared statements (no SQL injection)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content rendered in DOM passes through escHtml() to prevent XSS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managed server-side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grade endpoints verify authorization before any update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46120"/>
            <a:ext cx="416052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4612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8269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Usability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57530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design eliminates page reloads — navigation between sections is instant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(success / error) delivered via toast notifications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087368"/>
            <a:ext cx="416052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87368"/>
            <a:ext cx="64008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239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Reliability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416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throughout all system layers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 ensures users only access permitted areas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160520" cy="161848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46120"/>
            <a:ext cx="64008" cy="1618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8269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75304"/>
            <a:ext cx="393192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supports large student populations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independent PHP controllers — changes are isolated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Design Phase —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502920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3350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JavaScript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(SPA). All views rendered dynamically inside a single index.html file without page reloads.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8595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5029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24323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6974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RESTful API — 8 Independent Controllers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907792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communicates with backend using fetch() with JSON payloads. Thin api.js wrapper centralizes all API calls.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35295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— 6 Tables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students, teachers, courses, enrollments, users. ref_id links login accounts to academic records, separating authentication from academic identity.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480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pattern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eliminates round-trip page loads, improving perceived performance.  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student record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backend creates student record and assigns ID when student user is created without a linked record.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—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UML diagrams model the system from different perspectives: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79190"/>
            <a:ext cx="2754284" cy="1314035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78892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 |  Use Case Diagram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52145"/>
            <a:ext cx="26243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4 actors (Admin, Staff, Teacher, Student) and all operations each can perform. Admin and Staff share identical permissions.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279190"/>
            <a:ext cx="2745625" cy="1314035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261872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 |  Sequence Diagram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82211" y="1852145"/>
            <a:ext cx="26243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Illustrates the full message flow for the Student Self-Enroll scenario — from 'Show Available Courses' click through to a confirmed enrollment.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63927" y="1279190"/>
            <a:ext cx="2806238" cy="1314035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261872"/>
            <a:ext cx="2788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 |  Activity Diagram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1344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 i="1" dirty="0">
              <a:solidFill>
                <a:srgbClr val="93A8D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60117" y="1869463"/>
            <a:ext cx="26243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Student Course Registration flow step-by-step, including decision points for 'courses available' and 'already enrolled'.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4297680" cy="118414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63824"/>
            <a:ext cx="42976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638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 |  Class Diagram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639312"/>
            <a:ext cx="41148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 i="1" dirty="0">
              <a:solidFill>
                <a:srgbClr val="93A8D0"/>
              </a:solidFill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3078" y="3806051"/>
            <a:ext cx="4133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6 main entities: User, Student, Teacher, Course, Department, and Enrollment — with their attributes, methods, and relationships.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3163824"/>
            <a:ext cx="3931920" cy="118414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163824"/>
            <a:ext cx="3931920" cy="4114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1638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5-6  |  State Machine Diagrams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3950" y="3806051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 machines: Student Status (Active/Inactive/Suspended/Graduated), Enrollment Status (Enrolled/Completed/Dropped/Failed), and User Session.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Actors &amp;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E0EA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i="1" dirty="0">
              <a:solidFill>
                <a:srgbClr val="5B7EC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32120" y="868680"/>
            <a:ext cx="3337560" cy="12344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905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Admin &amp; Staff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179576"/>
            <a:ext cx="3200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Students, Teachers, Courses, Departments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Enroll/Drop students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real-time dashboard stats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2176272"/>
            <a:ext cx="3337560" cy="12344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212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Teacher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2487168"/>
            <a:ext cx="3200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courses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students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grades (Mid 30% / Asgn 20% / Final 50%)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3483864"/>
            <a:ext cx="3337560" cy="12344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3520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3794760"/>
            <a:ext cx="3200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Register/Self-Enroll in courses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courses (ungraded only)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dashboard &amp; GPA</a:t>
            </a:r>
            <a:endParaRPr lang="en-US" sz="900" dirty="0"/>
          </a:p>
        </p:txBody>
      </p:sp>
      <p:pic>
        <p:nvPicPr>
          <p:cNvPr id="15" name="Picture 14" descr="A diagram of a student management system&#10;&#10;AI-generated content may be incorrect.">
            <a:extLst>
              <a:ext uri="{FF2B5EF4-FFF2-40B4-BE49-F238E27FC236}">
                <a16:creationId xmlns:a16="http://schemas.microsoft.com/office/drawing/2014/main" id="{ED61764B-26EB-4B96-F169-633F1E381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57" y="865909"/>
            <a:ext cx="5015882" cy="3931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&amp; Activity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 |  Sequence Diagram — Student Self-Enroll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23774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Sequence Diagram Image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2 from the report)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611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Enter credentials → handleLogin() → POST /login → SELECT user → verify bcrypt → role-based portal launch → load student dashboard with GPA &amp; enrollments.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412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 |  Activity Diagram — Course Registration 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23774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18872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Activity Diagram Image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3 from the report) 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Register Course Page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Semester → Click 'Show Available Courses'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available courses from server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courses: show 'No available courses' message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courses found: render table → student clicks 'Enroll'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already enrolled: show error; otherwise INSERT enrollment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success notification → refresh available courses list</a:t>
            </a:r>
            <a:endParaRPr lang="en-US" sz="850" dirty="0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A49C17-495E-7185-F972-980CE78C6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8" y="1188027"/>
            <a:ext cx="4163291" cy="2386446"/>
          </a:xfrm>
          <a:prstGeom prst="rect">
            <a:avLst/>
          </a:prstGeom>
        </p:spPr>
      </p:pic>
      <p:pic>
        <p:nvPicPr>
          <p:cNvPr id="15" name="Picture 14" descr="A flowchart of course&#10;&#10;AI-generated content may be incorrect.">
            <a:extLst>
              <a:ext uri="{FF2B5EF4-FFF2-40B4-BE49-F238E27FC236}">
                <a16:creationId xmlns:a16="http://schemas.microsoft.com/office/drawing/2014/main" id="{67C49541-CAC9-D117-1807-5B6C57FB6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381" y="1185430"/>
            <a:ext cx="4160693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&amp; State Machine Diagrams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50292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 |  Class Diagram — 6 Main Entities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029200" cy="265176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Class Diagram Image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4 from the report)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886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User, Student, Teacher, Course, Department, Enrollment — linked via ref_id and foreign keys.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841248"/>
            <a:ext cx="3337560" cy="3474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841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Figs 5-6  |  State Machine Diagrams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1188720"/>
            <a:ext cx="3337560" cy="12344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1887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Student Status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(Fig 5)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2487168"/>
            <a:ext cx="3337560" cy="12344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2487168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Enrollment Status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(Fig 6)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858768"/>
            <a:ext cx="8595360" cy="347472"/>
          </a:xfrm>
          <a:prstGeom prst="rect">
            <a:avLst/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858768"/>
            <a:ext cx="54864" cy="3474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587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Status: 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385876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→ Inactive / Suspended / Graduated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251960"/>
            <a:ext cx="8595360" cy="347472"/>
          </a:xfrm>
          <a:prstGeom prst="rect">
            <a:avLst/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25196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51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Status: 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20240" y="42519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→ Completed / Dropped / Failed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645152"/>
            <a:ext cx="54864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451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Session: 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6451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→ Authenticated → Portal Views</a:t>
            </a:r>
            <a:endParaRPr lang="en-US" sz="950" dirty="0"/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5A412D-7352-0DD9-355D-B5B0AE81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33" y="1186295"/>
            <a:ext cx="5022083" cy="2658341"/>
          </a:xfrm>
          <a:prstGeom prst="rect">
            <a:avLst/>
          </a:prstGeom>
        </p:spPr>
      </p:pic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FC6102-1683-E699-32A6-BE8186DFE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57" y="1184997"/>
            <a:ext cx="3415146" cy="1240848"/>
          </a:xfrm>
          <a:prstGeom prst="rect">
            <a:avLst/>
          </a:prstGeom>
        </p:spPr>
      </p:pic>
      <p:pic>
        <p:nvPicPr>
          <p:cNvPr id="29" name="Picture 28" descr="A diagram of a student&#10;&#10;AI-generated content may be incorrect.">
            <a:extLst>
              <a:ext uri="{FF2B5EF4-FFF2-40B4-BE49-F238E27FC236}">
                <a16:creationId xmlns:a16="http://schemas.microsoft.com/office/drawing/2014/main" id="{5CDDE721-1A6A-FBF2-E77C-2D4069211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654" y="2484727"/>
            <a:ext cx="3329421" cy="12391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Implementation Phase — Technologies &amp; Tools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0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9875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JavaScript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(SPA) — no framework used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109728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810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— RESTful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independent controllers, each handling one resource domain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60320"/>
            <a:ext cx="10972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633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— all queries use prepared statements for security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85953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83280"/>
            <a:ext cx="109728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8328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JavaScript Charts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767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(students by dept) and donut chart (by status) on admin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80467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79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Grading Formula: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44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= (Midterm × 30%) + (Assignments × 20%) + (Final Exam × 50%)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≥90   |   B+ ≥85   |   B ≥80   |   C+ ≥75   |   C ≥70   |   D+ ≥65   |   D ≥60   |   F &lt;60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Testing Phase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14630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Unit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PHP controller functions and JavaScript functions tested in isolation to confirm each unit behaves correctly for valid and invalid inputs.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914400"/>
            <a:ext cx="2788920" cy="14630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914400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914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Integration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3552" y="13898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tested with various payloads to verify correct interaction between the application layer and the database.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914400"/>
            <a:ext cx="2788920" cy="146304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914400"/>
            <a:ext cx="2788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914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System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1344" y="13898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user scenarios executed manually in the browser to confirm that all components work together as expected.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514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— Results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52928"/>
          <a:ext cx="8595360" cy="1965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loads correctly for student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Self-Enroll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created successfully in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Grade 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grade auto-calculated from 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Auto-create Student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record created + ID assigned on user creation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Maintenance Phase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for high maintainability through modular, independent components.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4864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93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Independent PHP Controllers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8 PHP controllers is independent — a fix in one controller does not affect others. Changes are fully isolated.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206240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Centralized API Wrapper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8191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api.js wrapper means any backend URL change requires editing a single file — not scattered throughout the codebase.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4206240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96312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511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Referential Integrity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843784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uses foreign keys and ON DELETE rules (e.g., deleting a teacher sets course.teacher_id to NULL), maintaining data integrity automatically.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496312"/>
            <a:ext cx="4206240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496312"/>
            <a:ext cx="54864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511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Safe SQL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43784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uses prepared statements. Adding new queries follows a consistent, safe pattern — no risk of introducing SQL injection.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758184"/>
            <a:ext cx="4206240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58184"/>
            <a:ext cx="54864" cy="117043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130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Easily Extensible Roles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105656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roles can be added by: (1) extending the role enum, (2) creating a new portal section in app.js, and (3) adding a new PHP controller — no changes to existing code required.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758184"/>
            <a:ext cx="4206240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758184"/>
            <a:ext cx="54864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130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Production 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05656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 and error reporting should be enabled in production for proactive monitoring and issue resolution.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Screenshots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9202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4160520" cy="19202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91440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— GPA &amp; Enrollments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160520" cy="19202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92608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Grade Entry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solidFill>
            <a:srgbClr val="E0EA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1A2B5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Registration ]</a:t>
            </a:r>
            <a:endParaRPr lang="en-US" sz="1100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94C018-2E41-5092-3C6E-1A5ACBC2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911787"/>
            <a:ext cx="4156364" cy="1908494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6B6644-BA3B-129C-45D6-77809BF6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545" y="914803"/>
            <a:ext cx="4156364" cy="1919781"/>
          </a:xfrm>
          <a:prstGeom prst="rect">
            <a:avLst/>
          </a:prstGeom>
        </p:spPr>
      </p:pic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CF1DC2C-083B-5101-E0EE-765B33114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1" y="2923299"/>
            <a:ext cx="4156364" cy="1929268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4D0EA9-404D-355F-4804-92D2D5FC5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545" y="2927484"/>
            <a:ext cx="4156364" cy="1920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centralized, role-based web platform for ANU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Secure: bcrypt passwords, prepared SQL statements, XSS prevention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SPA architecture delivering instant navigation without page reloads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grade calculation with letter grade assignment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4 test cases passed — Unit, Integration &amp; System Testing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Modular, extensible design ready for future role additions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731520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94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Management System successfully replaces paper-based processes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secure, efficient, and scalable digital solution.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Yasser  •  Ahmed Alsayed  •  Abdul Rahman Rabie  •  Mohamed Ahmed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National University  —  May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- Final Project Report</dc:title>
  <dc:subject>PptxGenJS Presentation</dc:subject>
  <dc:creator>PptxGenJS</dc:creator>
  <cp:lastModifiedBy>PptxGenJS</cp:lastModifiedBy>
  <cp:revision>57</cp:revision>
  <dcterms:created xsi:type="dcterms:W3CDTF">2026-05-17T13:39:34Z</dcterms:created>
  <dcterms:modified xsi:type="dcterms:W3CDTF">2026-05-17T14:06:01Z</dcterms:modified>
</cp:coreProperties>
</file>